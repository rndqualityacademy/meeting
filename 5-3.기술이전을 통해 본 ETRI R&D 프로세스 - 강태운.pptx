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573D8-C9B2-409C-8AB3-58676505FB99}" type="datetimeFigureOut">
              <a:rPr lang="ko-KR" altLang="en-US" smtClean="0"/>
              <a:t>2016-08-11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1D1AB-A0A0-4E2B-8872-66CD6530B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4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A6FA5A-018F-4DC1-8699-F4588F124A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737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690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16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13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70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62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16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90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3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16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47800"/>
            <a:ext cx="10515600" cy="5046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07800" y="6311371"/>
            <a:ext cx="4148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A6FA5A-018F-4DC1-8699-F4588F124A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482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4800" dirty="0"/>
              <a:t>기술이전을 통해 </a:t>
            </a:r>
            <a:r>
              <a:rPr lang="ko-KR" altLang="en-US" sz="4800" dirty="0" smtClean="0"/>
              <a:t>본</a:t>
            </a: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en-US" altLang="ko-KR" dirty="0" smtClean="0"/>
              <a:t>ETRI </a:t>
            </a:r>
            <a:r>
              <a:rPr lang="en-US" altLang="ko-KR" dirty="0"/>
              <a:t>R&amp;D </a:t>
            </a:r>
            <a:r>
              <a:rPr lang="ko-KR" altLang="en-US" dirty="0"/>
              <a:t>프로세스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en-US" altLang="ko-KR" dirty="0" smtClean="0"/>
              <a:t>2016.8.11</a:t>
            </a:r>
          </a:p>
          <a:p>
            <a:endParaRPr lang="en-US" altLang="ko-KR" sz="800" dirty="0"/>
          </a:p>
          <a:p>
            <a:r>
              <a:rPr lang="ko-KR" altLang="en-US" dirty="0" smtClean="0"/>
              <a:t>강 태 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455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&lt;0&gt; </a:t>
            </a:r>
            <a:r>
              <a:rPr lang="ko-KR" altLang="en-US" dirty="0"/>
              <a:t>다음의 순서로 말씀드립니다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기술이전 </a:t>
            </a:r>
            <a:r>
              <a:rPr lang="ko-KR" altLang="en-US" dirty="0"/>
              <a:t>경험</a:t>
            </a:r>
          </a:p>
          <a:p>
            <a:r>
              <a:rPr lang="ko-KR" altLang="en-US" dirty="0" smtClean="0"/>
              <a:t>기업과 </a:t>
            </a:r>
            <a:r>
              <a:rPr lang="ko-KR" altLang="en-US" dirty="0" err="1"/>
              <a:t>에트리</a:t>
            </a:r>
            <a:r>
              <a:rPr lang="ko-KR" altLang="en-US" dirty="0"/>
              <a:t> 관계</a:t>
            </a:r>
          </a:p>
          <a:p>
            <a:r>
              <a:rPr lang="en-US" altLang="ko-KR" dirty="0" smtClean="0"/>
              <a:t>R&amp;D </a:t>
            </a:r>
            <a:r>
              <a:rPr lang="ko-KR" altLang="en-US" dirty="0"/>
              <a:t>프로세스 제안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22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&lt;1&gt; </a:t>
            </a:r>
            <a:r>
              <a:rPr lang="ko-KR" altLang="en-US" dirty="0"/>
              <a:t>먼저 기술이전에 대한 저의 경험을 이야기 </a:t>
            </a:r>
            <a:r>
              <a:rPr lang="ko-KR" altLang="en-US" dirty="0" smtClean="0"/>
              <a:t>합니다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에트리에</a:t>
            </a:r>
            <a:r>
              <a:rPr lang="ko-KR" altLang="en-US" dirty="0" smtClean="0"/>
              <a:t> </a:t>
            </a:r>
            <a:r>
              <a:rPr lang="ko-KR" altLang="en-US" dirty="0"/>
              <a:t>있을 때 기술이전을 해 보았고 </a:t>
            </a:r>
            <a:r>
              <a:rPr lang="ko-KR" altLang="en-US" dirty="0" smtClean="0"/>
              <a:t>                                           </a:t>
            </a:r>
            <a:r>
              <a:rPr lang="en-US" altLang="ko-KR" dirty="0" smtClean="0"/>
              <a:t>(</a:t>
            </a:r>
            <a:r>
              <a:rPr lang="ko-KR" altLang="en-US" dirty="0"/>
              <a:t>공동연구를 통하여 산업체에 </a:t>
            </a:r>
            <a:r>
              <a:rPr lang="ko-KR" altLang="en-US" b="1" dirty="0">
                <a:solidFill>
                  <a:srgbClr val="FFFF00"/>
                </a:solidFill>
              </a:rPr>
              <a:t>기술 전수</a:t>
            </a:r>
            <a:r>
              <a:rPr lang="ko-KR" altLang="en-US" dirty="0"/>
              <a:t>하였음</a:t>
            </a:r>
            <a:r>
              <a:rPr lang="en-US" altLang="ko-KR" dirty="0"/>
              <a:t>)</a:t>
            </a:r>
          </a:p>
          <a:p>
            <a:r>
              <a:rPr lang="ko-KR" altLang="en-US" dirty="0" err="1" smtClean="0"/>
              <a:t>에트리에서</a:t>
            </a:r>
            <a:r>
              <a:rPr lang="ko-KR" altLang="en-US" dirty="0" smtClean="0"/>
              <a:t> </a:t>
            </a:r>
            <a:r>
              <a:rPr lang="ko-KR" altLang="en-US" dirty="0"/>
              <a:t>개발하던 기술을 기반으로 </a:t>
            </a:r>
            <a:r>
              <a:rPr lang="ko-KR" altLang="en-US" b="1" dirty="0">
                <a:solidFill>
                  <a:srgbClr val="FFFF00"/>
                </a:solidFill>
              </a:rPr>
              <a:t>창업</a:t>
            </a:r>
            <a:r>
              <a:rPr lang="ko-KR" altLang="en-US" dirty="0"/>
              <a:t>을 해 보았고 </a:t>
            </a:r>
            <a:r>
              <a:rPr lang="ko-KR" altLang="en-US" dirty="0" smtClean="0"/>
              <a:t>                  </a:t>
            </a:r>
            <a:r>
              <a:rPr lang="en-US" altLang="ko-KR" dirty="0" smtClean="0"/>
              <a:t>(</a:t>
            </a:r>
            <a:r>
              <a:rPr lang="ko-KR" altLang="en-US" dirty="0"/>
              <a:t>창업 후에는 </a:t>
            </a:r>
            <a:r>
              <a:rPr lang="ko-KR" altLang="en-US" dirty="0" err="1"/>
              <a:t>에트리에서</a:t>
            </a:r>
            <a:r>
              <a:rPr lang="ko-KR" altLang="en-US" dirty="0"/>
              <a:t> </a:t>
            </a:r>
            <a:r>
              <a:rPr lang="ko-KR" altLang="en-US" dirty="0" err="1"/>
              <a:t>기술전수한</a:t>
            </a:r>
            <a:r>
              <a:rPr lang="ko-KR" altLang="en-US" dirty="0"/>
              <a:t> 대기업과 경쟁하였음</a:t>
            </a:r>
            <a:r>
              <a:rPr lang="en-US" altLang="ko-KR" dirty="0"/>
              <a:t>)</a:t>
            </a:r>
          </a:p>
          <a:p>
            <a:r>
              <a:rPr lang="ko-KR" altLang="en-US" dirty="0" err="1" smtClean="0"/>
              <a:t>에트리로부터</a:t>
            </a:r>
            <a:r>
              <a:rPr lang="ko-KR" altLang="en-US" dirty="0" smtClean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기술이전</a:t>
            </a:r>
            <a:r>
              <a:rPr lang="ko-KR" altLang="en-US" dirty="0"/>
              <a:t>을 받아 보기도 하였고 </a:t>
            </a:r>
            <a:r>
              <a:rPr lang="ko-KR" altLang="en-US" dirty="0" smtClean="0"/>
              <a:t>                                 </a:t>
            </a:r>
            <a:r>
              <a:rPr lang="en-US" altLang="ko-KR" dirty="0" smtClean="0"/>
              <a:t>(</a:t>
            </a:r>
            <a:r>
              <a:rPr lang="ko-KR" altLang="en-US" dirty="0"/>
              <a:t>한번의 </a:t>
            </a:r>
            <a:r>
              <a:rPr lang="ko-KR" altLang="en-US" dirty="0" err="1"/>
              <a:t>기술료로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억 원을 낸 적도 있음</a:t>
            </a:r>
            <a:r>
              <a:rPr lang="en-US" altLang="ko-KR" dirty="0"/>
              <a:t>)</a:t>
            </a:r>
          </a:p>
          <a:p>
            <a:r>
              <a:rPr lang="ko-KR" altLang="en-US" dirty="0" err="1" smtClean="0"/>
              <a:t>에트리</a:t>
            </a:r>
            <a:r>
              <a:rPr lang="ko-KR" altLang="en-US" dirty="0" smtClean="0"/>
              <a:t> </a:t>
            </a:r>
            <a:r>
              <a:rPr lang="en-US" altLang="ko-KR" dirty="0"/>
              <a:t>IP</a:t>
            </a:r>
            <a:r>
              <a:rPr lang="ko-KR" altLang="en-US" dirty="0"/>
              <a:t>와 외국 </a:t>
            </a:r>
            <a:r>
              <a:rPr lang="en-US" altLang="ko-KR" dirty="0"/>
              <a:t>(</a:t>
            </a:r>
            <a:r>
              <a:rPr lang="ko-KR" altLang="en-US" dirty="0"/>
              <a:t>영국 기업</a:t>
            </a:r>
            <a:r>
              <a:rPr lang="en-US" altLang="ko-KR" dirty="0"/>
              <a:t>) IP</a:t>
            </a:r>
            <a:r>
              <a:rPr lang="ko-KR" altLang="en-US" dirty="0"/>
              <a:t>를 </a:t>
            </a:r>
            <a:r>
              <a:rPr lang="ko-KR" altLang="en-US" b="1" dirty="0">
                <a:solidFill>
                  <a:srgbClr val="FFFF00"/>
                </a:solidFill>
              </a:rPr>
              <a:t>상호 출자</a:t>
            </a:r>
            <a:r>
              <a:rPr lang="ko-KR" altLang="en-US" dirty="0"/>
              <a:t>하는 새로운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ko-KR" altLang="en-US" dirty="0"/>
              <a:t>회사 설립을 추진해 보기도 하였습니다 </a:t>
            </a:r>
            <a:r>
              <a:rPr lang="ko-KR" altLang="en-US" dirty="0" smtClean="0"/>
              <a:t>                                                            </a:t>
            </a:r>
            <a:r>
              <a:rPr lang="en-US" altLang="ko-KR" dirty="0" smtClean="0"/>
              <a:t>(</a:t>
            </a:r>
            <a:r>
              <a:rPr lang="ko-KR" altLang="en-US" dirty="0"/>
              <a:t>이 경우엔 </a:t>
            </a:r>
            <a:r>
              <a:rPr lang="ko-KR" altLang="en-US" dirty="0" err="1"/>
              <a:t>에트리</a:t>
            </a:r>
            <a:r>
              <a:rPr lang="ko-KR" altLang="en-US" dirty="0"/>
              <a:t> 기술이전의 모든 절차와 평가된 </a:t>
            </a:r>
            <a:r>
              <a:rPr lang="en-US" altLang="ko-KR" dirty="0"/>
              <a:t>IP</a:t>
            </a:r>
            <a:r>
              <a:rPr lang="ko-KR" altLang="en-US" dirty="0"/>
              <a:t>를 외국 기업에 이해시키는 절차와 외국 </a:t>
            </a:r>
            <a:r>
              <a:rPr lang="en-US" altLang="ko-KR" dirty="0"/>
              <a:t>IP</a:t>
            </a:r>
            <a:r>
              <a:rPr lang="ko-KR" altLang="en-US" dirty="0"/>
              <a:t>를 도입하는 절차와 창업 절차가 모두 포함되었음</a:t>
            </a:r>
            <a:r>
              <a:rPr lang="en-US" altLang="ko-KR" dirty="0"/>
              <a:t>)</a:t>
            </a:r>
          </a:p>
          <a:p>
            <a:r>
              <a:rPr lang="ko-KR" altLang="en-US" dirty="0" smtClean="0"/>
              <a:t>그리고 </a:t>
            </a:r>
            <a:r>
              <a:rPr lang="en-US" altLang="ko-KR" dirty="0"/>
              <a:t>……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2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&lt;2&gt; </a:t>
            </a:r>
            <a:r>
              <a:rPr lang="ko-KR" altLang="en-US" dirty="0"/>
              <a:t>기업과 </a:t>
            </a:r>
            <a:r>
              <a:rPr lang="ko-KR" altLang="en-US" dirty="0" err="1"/>
              <a:t>에트리는</a:t>
            </a:r>
            <a:r>
              <a:rPr lang="ko-KR" altLang="en-US" dirty="0"/>
              <a:t> 다르지만 비슷합니다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기업과 </a:t>
            </a:r>
            <a:r>
              <a:rPr lang="ko-KR" altLang="en-US" dirty="0" err="1"/>
              <a:t>에트리의</a:t>
            </a:r>
            <a:r>
              <a:rPr lang="ko-KR" altLang="en-US" dirty="0"/>
              <a:t> 겉 </a:t>
            </a:r>
            <a:r>
              <a:rPr lang="ko-KR" altLang="en-US" b="1" dirty="0">
                <a:solidFill>
                  <a:srgbClr val="FFFF00"/>
                </a:solidFill>
              </a:rPr>
              <a:t>모습</a:t>
            </a:r>
            <a:r>
              <a:rPr lang="ko-KR" altLang="en-US" dirty="0"/>
              <a:t>은 카멜레온과 투명인간 </a:t>
            </a:r>
            <a:r>
              <a:rPr lang="ko-KR" altLang="en-US" dirty="0" err="1"/>
              <a:t>처럼</a:t>
            </a:r>
            <a:r>
              <a:rPr lang="ko-KR" altLang="en-US" dirty="0"/>
              <a:t> 다르지만</a:t>
            </a:r>
          </a:p>
          <a:p>
            <a:r>
              <a:rPr lang="ko-KR" altLang="en-US" dirty="0" smtClean="0"/>
              <a:t>기업 </a:t>
            </a:r>
            <a:r>
              <a:rPr lang="ko-KR" altLang="en-US" dirty="0"/>
              <a:t>프로세스 속에도 중요한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활동</a:t>
            </a:r>
            <a:r>
              <a:rPr lang="ko-KR" altLang="en-US" dirty="0"/>
              <a:t>이 들어 있어서</a:t>
            </a:r>
          </a:p>
          <a:p>
            <a:r>
              <a:rPr lang="ko-KR" altLang="en-US" dirty="0" smtClean="0"/>
              <a:t>전체 </a:t>
            </a:r>
            <a:r>
              <a:rPr lang="ko-KR" altLang="en-US" dirty="0"/>
              <a:t>프로세스를 </a:t>
            </a:r>
            <a:r>
              <a:rPr lang="ko-KR" altLang="en-US" b="1" dirty="0">
                <a:solidFill>
                  <a:srgbClr val="FFFF00"/>
                </a:solidFill>
              </a:rPr>
              <a:t>박스</a:t>
            </a:r>
            <a:r>
              <a:rPr lang="ko-KR" altLang="en-US" dirty="0"/>
              <a:t>와 </a:t>
            </a:r>
            <a:r>
              <a:rPr lang="ko-KR" altLang="en-US" b="1" dirty="0">
                <a:solidFill>
                  <a:srgbClr val="FFFF00"/>
                </a:solidFill>
              </a:rPr>
              <a:t>화살</a:t>
            </a:r>
            <a:r>
              <a:rPr lang="ko-KR" altLang="en-US" dirty="0"/>
              <a:t>로 표현하면 비슷해 보이기도 하고</a:t>
            </a:r>
          </a:p>
          <a:p>
            <a:r>
              <a:rPr lang="ko-KR" altLang="en-US" dirty="0" smtClean="0"/>
              <a:t>무엇 </a:t>
            </a:r>
            <a:r>
              <a:rPr lang="ko-KR" altLang="en-US" dirty="0"/>
              <a:t>보다 </a:t>
            </a:r>
            <a:r>
              <a:rPr lang="ko-KR" altLang="en-US" b="1" dirty="0">
                <a:solidFill>
                  <a:srgbClr val="FFFF00"/>
                </a:solidFill>
              </a:rPr>
              <a:t>서로</a:t>
            </a:r>
            <a:r>
              <a:rPr lang="ko-KR" altLang="en-US" dirty="0"/>
              <a:t>에게 절대적으로 필요한 존재 입니다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03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&lt;2-1&gt; </a:t>
            </a:r>
            <a:r>
              <a:rPr lang="ko-KR" altLang="en-US" dirty="0"/>
              <a:t>기업에선 투자 </a:t>
            </a:r>
            <a:r>
              <a:rPr lang="en-US" altLang="ko-KR" dirty="0"/>
              <a:t>- </a:t>
            </a:r>
            <a:r>
              <a:rPr lang="ko-KR" altLang="en-US" dirty="0" err="1"/>
              <a:t>에트리에선</a:t>
            </a:r>
            <a:r>
              <a:rPr lang="ko-KR" altLang="en-US" dirty="0"/>
              <a:t> 출연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투자자는 </a:t>
            </a:r>
            <a:r>
              <a:rPr lang="ko-KR" altLang="en-US" b="1" dirty="0">
                <a:solidFill>
                  <a:srgbClr val="FFFF00"/>
                </a:solidFill>
              </a:rPr>
              <a:t>기업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FFFF00"/>
                </a:solidFill>
              </a:rPr>
              <a:t>역량</a:t>
            </a:r>
            <a:r>
              <a:rPr lang="ko-KR" altLang="en-US" dirty="0"/>
              <a:t>을 기술적으로나 사업적으로 </a:t>
            </a:r>
            <a:r>
              <a:rPr lang="ko-KR" altLang="en-US" b="1" dirty="0">
                <a:solidFill>
                  <a:srgbClr val="FFFF00"/>
                </a:solidFill>
              </a:rPr>
              <a:t>판단</a:t>
            </a:r>
            <a:r>
              <a:rPr lang="ko-KR" altLang="en-US" dirty="0"/>
              <a:t>하여 투자 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테크놀로지 도메인에서나 </a:t>
            </a:r>
            <a:r>
              <a:rPr lang="ko-KR" altLang="en-US" dirty="0" err="1"/>
              <a:t>인더스트리</a:t>
            </a:r>
            <a:r>
              <a:rPr lang="ko-KR" altLang="en-US" dirty="0"/>
              <a:t> 도메인에서 플레이어가 될 수 있다는 기대를 가지고 투자 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출연자는 </a:t>
            </a:r>
            <a:r>
              <a:rPr lang="ko-KR" altLang="en-US" b="1" dirty="0" err="1">
                <a:solidFill>
                  <a:srgbClr val="FFFF00"/>
                </a:solidFill>
              </a:rPr>
              <a:t>출연기관</a:t>
            </a:r>
            <a:r>
              <a:rPr lang="ko-KR" altLang="en-US" dirty="0" err="1"/>
              <a:t>의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역량</a:t>
            </a:r>
            <a:r>
              <a:rPr lang="ko-KR" altLang="en-US" dirty="0"/>
              <a:t>을 </a:t>
            </a:r>
            <a:r>
              <a:rPr lang="ko-KR" altLang="en-US" b="1" dirty="0">
                <a:solidFill>
                  <a:srgbClr val="FFFF00"/>
                </a:solidFill>
              </a:rPr>
              <a:t>판단</a:t>
            </a:r>
            <a:r>
              <a:rPr lang="ko-KR" altLang="en-US" dirty="0"/>
              <a:t>하여 출연하지 않습니다</a:t>
            </a:r>
            <a:r>
              <a:rPr lang="en-US" altLang="ko-KR" dirty="0"/>
              <a:t>. </a:t>
            </a:r>
            <a:r>
              <a:rPr lang="ko-KR" altLang="en-US" dirty="0" err="1"/>
              <a:t>에트리에게는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정관에 따라</a:t>
            </a:r>
            <a:r>
              <a:rPr lang="en-US" altLang="ko-KR" dirty="0"/>
              <a:t>) “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통신</a:t>
            </a:r>
            <a:r>
              <a:rPr lang="en-US" altLang="ko-KR" dirty="0"/>
              <a:t>, </a:t>
            </a:r>
            <a:r>
              <a:rPr lang="ko-KR" altLang="en-US" dirty="0"/>
              <a:t>전자</a:t>
            </a:r>
            <a:r>
              <a:rPr lang="en-US" altLang="ko-KR" dirty="0"/>
              <a:t>, </a:t>
            </a:r>
            <a:r>
              <a:rPr lang="ko-KR" altLang="en-US" dirty="0"/>
              <a:t>방송 및 관련 </a:t>
            </a:r>
            <a:r>
              <a:rPr lang="ko-KR" altLang="en-US" dirty="0" err="1"/>
              <a:t>융복합기술</a:t>
            </a:r>
            <a:r>
              <a:rPr lang="ko-KR" altLang="en-US" dirty="0"/>
              <a:t> 분야의 산업원천기술 개발 및 성과 확산을 통해 국가경제사회 발전에 기여” 에 부응할 것이라는 기대를 가지고 출연 합니다</a:t>
            </a:r>
            <a:r>
              <a:rPr lang="en-US" altLang="ko-KR" dirty="0"/>
              <a:t>. (</a:t>
            </a:r>
            <a:r>
              <a:rPr lang="ko-KR" altLang="en-US" dirty="0"/>
              <a:t>여기서 </a:t>
            </a:r>
            <a:r>
              <a:rPr lang="ko-KR" altLang="en-US" b="1" dirty="0">
                <a:solidFill>
                  <a:srgbClr val="FFFF00"/>
                </a:solidFill>
              </a:rPr>
              <a:t>역량</a:t>
            </a:r>
            <a:r>
              <a:rPr lang="ko-KR" altLang="en-US" dirty="0"/>
              <a:t>이란 출연 연구기관이 속한 테크놀로지 도메인의 특정 섹터를 </a:t>
            </a:r>
            <a:r>
              <a:rPr lang="ko-KR" altLang="en-US" dirty="0" err="1"/>
              <a:t>리딩하고</a:t>
            </a:r>
            <a:r>
              <a:rPr lang="ko-KR" altLang="en-US" dirty="0"/>
              <a:t> 관련 </a:t>
            </a:r>
            <a:r>
              <a:rPr lang="ko-KR" altLang="en-US" dirty="0" err="1"/>
              <a:t>인더스트리</a:t>
            </a:r>
            <a:r>
              <a:rPr lang="ko-KR" altLang="en-US" dirty="0"/>
              <a:t> 도메인에 있는 기업체 또는 관련 국가 정책에 지대한 영향을 줄 수 있는 지에 대한 총합적인 능력을 의미합니다</a:t>
            </a:r>
            <a:r>
              <a:rPr lang="en-US" altLang="ko-KR" dirty="0"/>
              <a:t>.)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18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&lt;2-2&gt; </a:t>
            </a:r>
            <a:r>
              <a:rPr lang="ko-KR" altLang="en-US" dirty="0"/>
              <a:t>기업에선 사업의 성공 </a:t>
            </a:r>
            <a:r>
              <a:rPr lang="en-US" altLang="ko-KR" dirty="0"/>
              <a:t>- </a:t>
            </a:r>
            <a:r>
              <a:rPr lang="ko-KR" altLang="en-US" dirty="0" err="1"/>
              <a:t>에트리에선</a:t>
            </a:r>
            <a:r>
              <a:rPr lang="ko-KR" altLang="en-US" dirty="0"/>
              <a:t> 목표의 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기업에서는 </a:t>
            </a:r>
            <a:r>
              <a:rPr lang="ko-KR" altLang="en-US" b="1" dirty="0">
                <a:solidFill>
                  <a:srgbClr val="FFFF00"/>
                </a:solidFill>
              </a:rPr>
              <a:t>사업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FFFF00"/>
                </a:solidFill>
              </a:rPr>
              <a:t>성공</a:t>
            </a:r>
            <a:r>
              <a:rPr lang="ko-KR" altLang="en-US" dirty="0"/>
              <a:t>이 모든 </a:t>
            </a:r>
            <a:r>
              <a:rPr lang="en-US" altLang="ko-KR" dirty="0"/>
              <a:t>(</a:t>
            </a:r>
            <a:r>
              <a:rPr lang="ko-KR" altLang="en-US" dirty="0"/>
              <a:t>경영 유지와 확장</a:t>
            </a:r>
            <a:r>
              <a:rPr lang="en-US" altLang="ko-KR" dirty="0"/>
              <a:t>, </a:t>
            </a:r>
            <a:r>
              <a:rPr lang="ko-KR" altLang="en-US" dirty="0"/>
              <a:t>투자 및 투자유치</a:t>
            </a:r>
            <a:r>
              <a:rPr lang="en-US" altLang="ko-KR" dirty="0"/>
              <a:t>, IPO, </a:t>
            </a:r>
            <a:r>
              <a:rPr lang="ko-KR" altLang="en-US" dirty="0"/>
              <a:t>투자자 </a:t>
            </a:r>
            <a:r>
              <a:rPr lang="en-US" altLang="ko-KR" dirty="0"/>
              <a:t>exit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활동의 </a:t>
            </a:r>
            <a:r>
              <a:rPr lang="ko-KR" altLang="en-US" b="1" dirty="0">
                <a:solidFill>
                  <a:srgbClr val="FFFF00"/>
                </a:solidFill>
              </a:rPr>
              <a:t>필요 조건</a:t>
            </a:r>
            <a:r>
              <a:rPr lang="ko-KR" altLang="en-US" dirty="0"/>
              <a:t>이 됩니다</a:t>
            </a:r>
            <a:r>
              <a:rPr lang="en-US" altLang="ko-KR" dirty="0"/>
              <a:t>. </a:t>
            </a:r>
            <a:r>
              <a:rPr lang="ko-KR" altLang="en-US" dirty="0"/>
              <a:t>사업 성공 없이 기업의 존재는 불가능하고</a:t>
            </a:r>
            <a:r>
              <a:rPr lang="en-US" altLang="ko-KR" dirty="0"/>
              <a:t>, </a:t>
            </a:r>
            <a:r>
              <a:rPr lang="ko-KR" altLang="en-US" dirty="0"/>
              <a:t>사업 성공은 기본적이고 절대적인 </a:t>
            </a:r>
            <a:r>
              <a:rPr lang="ko-KR" altLang="en-US" b="1" dirty="0">
                <a:solidFill>
                  <a:srgbClr val="FFFF00"/>
                </a:solidFill>
              </a:rPr>
              <a:t>기업</a:t>
            </a:r>
            <a:r>
              <a:rPr lang="ko-KR" altLang="en-US" dirty="0"/>
              <a:t>의 </a:t>
            </a:r>
            <a:r>
              <a:rPr lang="ko-KR" altLang="en-US" b="1" dirty="0">
                <a:solidFill>
                  <a:srgbClr val="FFFF00"/>
                </a:solidFill>
              </a:rPr>
              <a:t>목표</a:t>
            </a:r>
            <a:r>
              <a:rPr lang="ko-KR" altLang="en-US" dirty="0"/>
              <a:t> 입니다</a:t>
            </a:r>
            <a:r>
              <a:rPr lang="en-US" altLang="ko-KR" dirty="0"/>
              <a:t>. </a:t>
            </a:r>
            <a:r>
              <a:rPr lang="ko-KR" altLang="en-US" dirty="0"/>
              <a:t>그래서 조직과 개인 </a:t>
            </a:r>
            <a:r>
              <a:rPr lang="ko-KR" altLang="en-US" dirty="0" err="1"/>
              <a:t>평가지표도</a:t>
            </a:r>
            <a:r>
              <a:rPr lang="ko-KR" altLang="en-US" dirty="0"/>
              <a:t> </a:t>
            </a:r>
            <a:r>
              <a:rPr lang="ko-KR" altLang="en-US" dirty="0" err="1"/>
              <a:t>심플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 err="1"/>
              <a:t>에트리에서</a:t>
            </a:r>
            <a:r>
              <a:rPr lang="ko-KR" altLang="en-US" dirty="0"/>
              <a:t> 설정하는 목표는 무엇인지 잘 </a:t>
            </a:r>
            <a:r>
              <a:rPr lang="ko-KR" altLang="en-US" b="1" dirty="0">
                <a:solidFill>
                  <a:srgbClr val="FFFF00"/>
                </a:solidFill>
              </a:rPr>
              <a:t>이해</a:t>
            </a:r>
            <a:r>
              <a:rPr lang="ko-KR" altLang="en-US" dirty="0"/>
              <a:t>되지 않습니다</a:t>
            </a:r>
            <a:r>
              <a:rPr lang="en-US" altLang="ko-KR" dirty="0"/>
              <a:t>. (</a:t>
            </a:r>
            <a:r>
              <a:rPr lang="ko-KR" altLang="en-US" dirty="0"/>
              <a:t>핵심기술</a:t>
            </a:r>
            <a:r>
              <a:rPr lang="en-US" altLang="ko-KR" dirty="0"/>
              <a:t>, </a:t>
            </a:r>
            <a:r>
              <a:rPr lang="ko-KR" altLang="en-US" dirty="0"/>
              <a:t>과제 수주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</a:t>
            </a:r>
            <a:r>
              <a:rPr lang="ko-KR" altLang="en-US" dirty="0"/>
              <a:t>고객만족도 등</a:t>
            </a:r>
            <a:r>
              <a:rPr lang="en-US" altLang="ko-KR" dirty="0"/>
              <a:t>) </a:t>
            </a:r>
            <a:r>
              <a:rPr lang="ko-KR" altLang="en-US" dirty="0"/>
              <a:t>계량적인 평가지표의 해당 건수가 </a:t>
            </a:r>
            <a:r>
              <a:rPr lang="ko-KR" altLang="en-US" dirty="0" err="1"/>
              <a:t>에트리의</a:t>
            </a:r>
            <a:r>
              <a:rPr lang="ko-KR" altLang="en-US" dirty="0"/>
              <a:t>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목표 </a:t>
            </a:r>
            <a:r>
              <a:rPr lang="ko-KR" altLang="en-US" dirty="0"/>
              <a:t>입니까</a:t>
            </a:r>
            <a:r>
              <a:rPr lang="en-US" altLang="ko-KR" dirty="0"/>
              <a:t>? </a:t>
            </a:r>
            <a:r>
              <a:rPr lang="ko-KR" altLang="en-US" dirty="0"/>
              <a:t>이러한 목표가 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) </a:t>
            </a:r>
            <a:r>
              <a:rPr lang="ko-KR" altLang="en-US" b="1" dirty="0">
                <a:solidFill>
                  <a:srgbClr val="FFFF00"/>
                </a:solidFill>
              </a:rPr>
              <a:t>달성</a:t>
            </a:r>
            <a:r>
              <a:rPr lang="ko-KR" altLang="en-US" dirty="0"/>
              <a:t>되면 연구과제 제안 중에 설정된 목표가 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) </a:t>
            </a:r>
            <a:r>
              <a:rPr lang="ko-KR" altLang="en-US" dirty="0"/>
              <a:t>달성되는 것 입니까</a:t>
            </a:r>
            <a:r>
              <a:rPr lang="en-US" altLang="ko-KR" dirty="0"/>
              <a:t>? </a:t>
            </a:r>
            <a:r>
              <a:rPr lang="ko-KR" altLang="en-US" dirty="0"/>
              <a:t>부서와 개인이 달성해야 할 </a:t>
            </a:r>
            <a:r>
              <a:rPr lang="ko-KR" altLang="en-US" b="1" dirty="0" err="1">
                <a:solidFill>
                  <a:srgbClr val="FFFF00"/>
                </a:solidFill>
              </a:rPr>
              <a:t>에트리</a:t>
            </a:r>
            <a:r>
              <a:rPr lang="ko-KR" altLang="en-US" dirty="0" err="1"/>
              <a:t>의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존재</a:t>
            </a:r>
            <a:r>
              <a:rPr lang="ko-KR" altLang="en-US" dirty="0"/>
              <a:t>를 결정할 수 있는 </a:t>
            </a:r>
            <a:r>
              <a:rPr lang="ko-KR" altLang="en-US" b="1" dirty="0">
                <a:solidFill>
                  <a:srgbClr val="FFFF00"/>
                </a:solidFill>
              </a:rPr>
              <a:t>목표</a:t>
            </a:r>
            <a:r>
              <a:rPr lang="ko-KR" altLang="en-US" dirty="0"/>
              <a:t>는 무엇 입니까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어떤 연구과제가 목표를 달성하였다면 </a:t>
            </a:r>
            <a:r>
              <a:rPr lang="ko-KR" altLang="en-US" dirty="0" err="1"/>
              <a:t>에트리는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기술</a:t>
            </a:r>
            <a:r>
              <a:rPr lang="ko-KR" altLang="en-US" dirty="0"/>
              <a:t>적인 </a:t>
            </a:r>
            <a:r>
              <a:rPr lang="ko-KR" altLang="en-US" b="1" dirty="0">
                <a:solidFill>
                  <a:srgbClr val="FFFF00"/>
                </a:solidFill>
              </a:rPr>
              <a:t>진전</a:t>
            </a:r>
            <a:r>
              <a:rPr lang="ko-KR" altLang="en-US" dirty="0"/>
              <a:t>을</a:t>
            </a:r>
            <a:r>
              <a:rPr lang="en-US" altLang="ko-KR" dirty="0"/>
              <a:t>, </a:t>
            </a:r>
            <a:r>
              <a:rPr lang="ko-KR" altLang="en-US" dirty="0"/>
              <a:t>그리고 기업은 </a:t>
            </a:r>
            <a:r>
              <a:rPr lang="ko-KR" altLang="en-US" b="1" dirty="0">
                <a:solidFill>
                  <a:srgbClr val="FFFF00"/>
                </a:solidFill>
              </a:rPr>
              <a:t>시장</a:t>
            </a:r>
            <a:r>
              <a:rPr lang="ko-KR" altLang="en-US" dirty="0"/>
              <a:t>에서 영향력 </a:t>
            </a:r>
            <a:r>
              <a:rPr lang="ko-KR" altLang="en-US" b="1" dirty="0">
                <a:solidFill>
                  <a:srgbClr val="FFFF00"/>
                </a:solidFill>
              </a:rPr>
              <a:t>향상</a:t>
            </a:r>
            <a:r>
              <a:rPr lang="ko-KR" altLang="en-US" dirty="0"/>
              <a:t>을 이룰 수 있어야 하지 않을까요</a:t>
            </a:r>
            <a:r>
              <a:rPr lang="en-US" altLang="ko-KR" dirty="0" smtClean="0"/>
              <a:t>?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33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&lt;2-3&gt; </a:t>
            </a:r>
            <a:r>
              <a:rPr lang="ko-KR" altLang="en-US" dirty="0"/>
              <a:t>기업의 혁신 </a:t>
            </a:r>
            <a:r>
              <a:rPr lang="en-US" altLang="ko-KR" dirty="0"/>
              <a:t>- </a:t>
            </a:r>
            <a:r>
              <a:rPr lang="ko-KR" altLang="en-US" dirty="0" err="1"/>
              <a:t>에트리의</a:t>
            </a:r>
            <a:r>
              <a:rPr lang="ko-KR" altLang="en-US" dirty="0"/>
              <a:t> 혁신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기업은 </a:t>
            </a:r>
            <a:r>
              <a:rPr lang="en-US" altLang="ko-KR" b="1" dirty="0">
                <a:solidFill>
                  <a:srgbClr val="FFFF00"/>
                </a:solidFill>
              </a:rPr>
              <a:t>ROI</a:t>
            </a:r>
            <a:r>
              <a:rPr lang="en-US" altLang="ko-KR" dirty="0"/>
              <a:t> </a:t>
            </a:r>
            <a:r>
              <a:rPr lang="ko-KR" altLang="en-US" dirty="0"/>
              <a:t>등 효율을 높이기 위하여 끊임없이 새로운 아이디어 발굴과 </a:t>
            </a:r>
            <a:r>
              <a:rPr lang="ko-KR" altLang="en-US" b="1" dirty="0">
                <a:solidFill>
                  <a:srgbClr val="FFFF00"/>
                </a:solidFill>
              </a:rPr>
              <a:t>혁신</a:t>
            </a:r>
            <a:r>
              <a:rPr lang="ko-KR" altLang="en-US" dirty="0"/>
              <a:t>적인 </a:t>
            </a:r>
            <a:r>
              <a:rPr lang="ko-KR" altLang="en-US" b="1" dirty="0">
                <a:solidFill>
                  <a:srgbClr val="FFFF00"/>
                </a:solidFill>
              </a:rPr>
              <a:t>활동</a:t>
            </a:r>
            <a:r>
              <a:rPr lang="ko-KR" altLang="en-US" dirty="0"/>
              <a:t>을 추구합니다</a:t>
            </a:r>
            <a:r>
              <a:rPr lang="en-US" altLang="ko-KR" dirty="0"/>
              <a:t>. </a:t>
            </a:r>
            <a:r>
              <a:rPr lang="ko-KR" altLang="en-US" dirty="0"/>
              <a:t>그래야 지금처럼 고도로 발달한 자본주의에서 살아 남을 수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 err="1"/>
              <a:t>에트리에서도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혁신</a:t>
            </a:r>
            <a:r>
              <a:rPr lang="ko-KR" altLang="en-US" dirty="0"/>
              <a:t>을 추구하고 모든 </a:t>
            </a:r>
            <a:r>
              <a:rPr lang="en-US" altLang="ko-KR" dirty="0"/>
              <a:t>(R&amp;D, </a:t>
            </a:r>
            <a:r>
              <a:rPr lang="ko-KR" altLang="en-US" dirty="0"/>
              <a:t>기술이전</a:t>
            </a:r>
            <a:r>
              <a:rPr lang="en-US" altLang="ko-KR" dirty="0"/>
              <a:t>, </a:t>
            </a:r>
            <a:r>
              <a:rPr lang="ko-KR" altLang="en-US" dirty="0"/>
              <a:t>경영관리 등</a:t>
            </a:r>
            <a:r>
              <a:rPr lang="en-US" altLang="ko-KR" dirty="0"/>
              <a:t>) </a:t>
            </a:r>
            <a:r>
              <a:rPr lang="ko-KR" altLang="en-US" dirty="0"/>
              <a:t>부서가 이를 위한 다양한 </a:t>
            </a:r>
            <a:r>
              <a:rPr lang="ko-KR" altLang="en-US" b="1" dirty="0">
                <a:solidFill>
                  <a:srgbClr val="FFFF00"/>
                </a:solidFill>
              </a:rPr>
              <a:t>활동</a:t>
            </a:r>
            <a:r>
              <a:rPr lang="ko-KR" altLang="en-US" dirty="0"/>
              <a:t>을 합니다</a:t>
            </a:r>
            <a:r>
              <a:rPr lang="en-US" altLang="ko-KR" dirty="0"/>
              <a:t>. </a:t>
            </a:r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 err="1"/>
              <a:t>에트리에서의</a:t>
            </a:r>
            <a:r>
              <a:rPr lang="ko-KR" altLang="en-US" dirty="0"/>
              <a:t> 혁신은 그 결과가 </a:t>
            </a:r>
            <a:r>
              <a:rPr lang="en-US" altLang="ko-KR" dirty="0"/>
              <a:t>(ROI </a:t>
            </a:r>
            <a:r>
              <a:rPr lang="ko-KR" altLang="en-US" dirty="0"/>
              <a:t>등 생산성이나 효율성이 아니라</a:t>
            </a:r>
            <a:r>
              <a:rPr lang="en-US" altLang="ko-KR" dirty="0"/>
              <a:t>) </a:t>
            </a:r>
            <a:r>
              <a:rPr lang="ko-KR" altLang="en-US" b="1" dirty="0">
                <a:solidFill>
                  <a:srgbClr val="FFFF00"/>
                </a:solidFill>
              </a:rPr>
              <a:t>테크놀로지</a:t>
            </a:r>
            <a:r>
              <a:rPr lang="ko-KR" altLang="en-US" dirty="0"/>
              <a:t> 및 </a:t>
            </a:r>
            <a:r>
              <a:rPr lang="ko-KR" altLang="en-US" b="1" dirty="0">
                <a:solidFill>
                  <a:srgbClr val="FFFF00"/>
                </a:solidFill>
              </a:rPr>
              <a:t>인더스트리</a:t>
            </a:r>
            <a:r>
              <a:rPr lang="ko-KR" altLang="en-US" dirty="0"/>
              <a:t>의 글로벌 도메인에 </a:t>
            </a:r>
            <a:r>
              <a:rPr lang="ko-KR" altLang="en-US" b="1" dirty="0">
                <a:solidFill>
                  <a:srgbClr val="FFFF00"/>
                </a:solidFill>
              </a:rPr>
              <a:t>영향</a:t>
            </a:r>
            <a:r>
              <a:rPr lang="ko-KR" altLang="en-US" dirty="0"/>
              <a:t>을 얼마나 </a:t>
            </a:r>
            <a:r>
              <a:rPr lang="ko-KR" altLang="en-US" dirty="0" err="1"/>
              <a:t>주었는</a:t>
            </a:r>
            <a:r>
              <a:rPr lang="ko-KR" altLang="en-US" dirty="0"/>
              <a:t> 지로 </a:t>
            </a:r>
            <a:r>
              <a:rPr lang="ko-KR" altLang="en-US" b="1" dirty="0">
                <a:solidFill>
                  <a:srgbClr val="FFFF00"/>
                </a:solidFill>
              </a:rPr>
              <a:t>평가</a:t>
            </a:r>
            <a:r>
              <a:rPr lang="ko-KR" altLang="en-US" dirty="0"/>
              <a:t>될 수 있어야 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 err="1"/>
              <a:t>연구사업이</a:t>
            </a:r>
            <a:r>
              <a:rPr lang="ko-KR" altLang="en-US" dirty="0"/>
              <a:t> 확정된 후 수행되는 요구사항</a:t>
            </a:r>
            <a:r>
              <a:rPr lang="en-US" altLang="ko-KR" dirty="0"/>
              <a:t>-</a:t>
            </a:r>
            <a:r>
              <a:rPr lang="ko-KR" altLang="en-US" dirty="0"/>
              <a:t>설계</a:t>
            </a:r>
            <a:r>
              <a:rPr lang="en-US" altLang="ko-KR" dirty="0"/>
              <a:t>-</a:t>
            </a:r>
            <a:r>
              <a:rPr lang="ko-KR" altLang="en-US" dirty="0"/>
              <a:t>구현</a:t>
            </a:r>
            <a:r>
              <a:rPr lang="en-US" altLang="ko-KR" dirty="0"/>
              <a:t>-</a:t>
            </a:r>
            <a:r>
              <a:rPr lang="ko-KR" altLang="en-US" dirty="0"/>
              <a:t>시험의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프로세스</a:t>
            </a:r>
            <a:r>
              <a:rPr lang="ko-KR" altLang="en-US" dirty="0"/>
              <a:t>에서</a:t>
            </a:r>
            <a:r>
              <a:rPr lang="ko-KR" altLang="en-US" b="1" dirty="0">
                <a:solidFill>
                  <a:srgbClr val="FFFF00"/>
                </a:solidFill>
              </a:rPr>
              <a:t> </a:t>
            </a:r>
            <a:r>
              <a:rPr lang="en-US" altLang="ko-KR" dirty="0"/>
              <a:t>R&amp;D </a:t>
            </a:r>
            <a:r>
              <a:rPr lang="ko-KR" altLang="en-US" dirty="0"/>
              <a:t>품질과 결과물의 완성도 향상을 위한 품질관리 활동을 이러한 측면에서 다시 </a:t>
            </a:r>
            <a:r>
              <a:rPr lang="ko-KR" altLang="en-US" b="1" dirty="0">
                <a:solidFill>
                  <a:srgbClr val="FFFF00"/>
                </a:solidFill>
              </a:rPr>
              <a:t>검토</a:t>
            </a:r>
            <a:r>
              <a:rPr lang="ko-KR" altLang="en-US" dirty="0"/>
              <a:t>할 필요는 없을까요</a:t>
            </a:r>
            <a:r>
              <a:rPr lang="en-US" altLang="ko-KR" dirty="0"/>
              <a:t>? </a:t>
            </a:r>
            <a:r>
              <a:rPr lang="ko-KR" altLang="en-US" dirty="0"/>
              <a:t>마찬가지로 </a:t>
            </a:r>
            <a:r>
              <a:rPr lang="ko-KR" altLang="en-US" b="1" dirty="0">
                <a:solidFill>
                  <a:srgbClr val="FFFF00"/>
                </a:solidFill>
              </a:rPr>
              <a:t>기술이전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rgbClr val="FFFF00"/>
                </a:solidFill>
              </a:rPr>
              <a:t>사업화</a:t>
            </a:r>
            <a:r>
              <a:rPr lang="ko-KR" altLang="en-US" dirty="0"/>
              <a:t> 등의 프로세스도 다시 </a:t>
            </a:r>
            <a:r>
              <a:rPr lang="ko-KR" altLang="en-US" b="1" dirty="0">
                <a:solidFill>
                  <a:srgbClr val="FFFF00"/>
                </a:solidFill>
              </a:rPr>
              <a:t>검토</a:t>
            </a:r>
            <a:r>
              <a:rPr lang="ko-KR" altLang="en-US" dirty="0"/>
              <a:t>할 필요는 없을까요</a:t>
            </a:r>
            <a:r>
              <a:rPr lang="en-US" altLang="ko-KR" dirty="0" smtClean="0"/>
              <a:t>?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66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&lt;2-4&gt; </a:t>
            </a:r>
            <a:r>
              <a:rPr lang="ko-KR" altLang="en-US" dirty="0"/>
              <a:t>기업은 </a:t>
            </a:r>
            <a:r>
              <a:rPr lang="ko-KR" altLang="en-US" dirty="0" err="1"/>
              <a:t>인더스트리</a:t>
            </a:r>
            <a:r>
              <a:rPr lang="ko-KR" altLang="en-US" dirty="0"/>
              <a:t> 엑스퍼트 </a:t>
            </a:r>
            <a:r>
              <a:rPr lang="en-US" altLang="ko-KR" dirty="0"/>
              <a:t>- </a:t>
            </a:r>
            <a:r>
              <a:rPr lang="ko-KR" altLang="en-US" dirty="0" err="1"/>
              <a:t>에트리는</a:t>
            </a:r>
            <a:r>
              <a:rPr lang="ko-KR" altLang="en-US" dirty="0"/>
              <a:t> 테크놀로지 리더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어떤 연구과제가 목표를 달성하여 기술적인 진전을 이루고 산업분야에도 영향을 미치기 위해서는 </a:t>
            </a:r>
            <a:r>
              <a:rPr lang="ko-KR" altLang="en-US" b="1" dirty="0" err="1">
                <a:solidFill>
                  <a:srgbClr val="FFFF00"/>
                </a:solidFill>
              </a:rPr>
              <a:t>에트리</a:t>
            </a:r>
            <a:r>
              <a:rPr lang="ko-KR" altLang="en-US" dirty="0" err="1"/>
              <a:t>의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테크놀로지 리더</a:t>
            </a:r>
            <a:r>
              <a:rPr lang="ko-KR" altLang="en-US" dirty="0"/>
              <a:t>와 </a:t>
            </a:r>
            <a:r>
              <a:rPr lang="ko-KR" altLang="en-US" b="1" dirty="0">
                <a:solidFill>
                  <a:srgbClr val="FFFF00"/>
                </a:solidFill>
              </a:rPr>
              <a:t>기업</a:t>
            </a:r>
            <a:r>
              <a:rPr lang="ko-KR" altLang="en-US" dirty="0"/>
              <a:t>의 </a:t>
            </a:r>
            <a:r>
              <a:rPr lang="ko-KR" altLang="en-US" b="1" dirty="0" err="1">
                <a:solidFill>
                  <a:srgbClr val="FFFF00"/>
                </a:solidFill>
              </a:rPr>
              <a:t>인더스트리</a:t>
            </a:r>
            <a:r>
              <a:rPr lang="ko-KR" altLang="en-US" b="1" dirty="0">
                <a:solidFill>
                  <a:srgbClr val="FFFF00"/>
                </a:solidFill>
              </a:rPr>
              <a:t> 엑스퍼트</a:t>
            </a:r>
            <a:r>
              <a:rPr lang="ko-KR" altLang="en-US" dirty="0"/>
              <a:t>가 </a:t>
            </a:r>
            <a:r>
              <a:rPr lang="ko-KR" altLang="en-US" b="1" dirty="0">
                <a:solidFill>
                  <a:srgbClr val="FFFF00"/>
                </a:solidFill>
              </a:rPr>
              <a:t>함께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목표</a:t>
            </a:r>
            <a:r>
              <a:rPr lang="ko-KR" altLang="en-US" dirty="0"/>
              <a:t> 설정과 </a:t>
            </a:r>
            <a:r>
              <a:rPr lang="ko-KR" altLang="en-US" b="1" dirty="0">
                <a:solidFill>
                  <a:srgbClr val="FFFF00"/>
                </a:solidFill>
              </a:rPr>
              <a:t>평가지표</a:t>
            </a:r>
            <a:r>
              <a:rPr lang="ko-KR" altLang="en-US" dirty="0"/>
              <a:t>를 도출해야 한다고 생각 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 err="1"/>
              <a:t>에트리의</a:t>
            </a:r>
            <a:r>
              <a:rPr lang="ko-KR" altLang="en-US" dirty="0"/>
              <a:t> </a:t>
            </a:r>
            <a:r>
              <a:rPr lang="en-US" altLang="ko-KR" dirty="0"/>
              <a:t>R&amp;D</a:t>
            </a:r>
            <a:r>
              <a:rPr lang="ko-KR" altLang="en-US" dirty="0"/>
              <a:t>를 포함한 모든 </a:t>
            </a:r>
            <a:r>
              <a:rPr lang="en-US" altLang="ko-KR" dirty="0"/>
              <a:t>(</a:t>
            </a:r>
            <a:r>
              <a:rPr lang="ko-KR" altLang="en-US" dirty="0"/>
              <a:t>기술이전 등</a:t>
            </a:r>
            <a:r>
              <a:rPr lang="en-US" altLang="ko-KR" dirty="0"/>
              <a:t>) </a:t>
            </a:r>
            <a:r>
              <a:rPr lang="ko-KR" altLang="en-US" b="1" dirty="0">
                <a:solidFill>
                  <a:srgbClr val="FFFF00"/>
                </a:solidFill>
              </a:rPr>
              <a:t>활동</a:t>
            </a:r>
            <a:r>
              <a:rPr lang="ko-KR" altLang="en-US" dirty="0"/>
              <a:t>은 이러한 목표 아래에서 </a:t>
            </a:r>
            <a:r>
              <a:rPr lang="ko-KR" altLang="en-US" b="1" dirty="0">
                <a:solidFill>
                  <a:srgbClr val="FFFF00"/>
                </a:solidFill>
              </a:rPr>
              <a:t>정의</a:t>
            </a:r>
            <a:r>
              <a:rPr lang="ko-KR" altLang="en-US" dirty="0"/>
              <a:t>되고</a:t>
            </a:r>
            <a:r>
              <a:rPr lang="en-US" altLang="ko-KR" dirty="0"/>
              <a:t>, </a:t>
            </a:r>
            <a:r>
              <a:rPr lang="ko-KR" altLang="en-US" dirty="0"/>
              <a:t>각 활동은 기업과 </a:t>
            </a:r>
            <a:r>
              <a:rPr lang="ko-KR" altLang="en-US" dirty="0" err="1"/>
              <a:t>에트리가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함께</a:t>
            </a:r>
            <a:r>
              <a:rPr lang="ko-KR" altLang="en-US" dirty="0"/>
              <a:t> 또는 </a:t>
            </a:r>
            <a:r>
              <a:rPr lang="ko-KR" altLang="en-US" b="1" dirty="0">
                <a:solidFill>
                  <a:srgbClr val="FFFF00"/>
                </a:solidFill>
              </a:rPr>
              <a:t>나누어 수행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 err="1"/>
              <a:t>에트리는</a:t>
            </a:r>
            <a:r>
              <a:rPr lang="ko-KR" altLang="en-US" dirty="0"/>
              <a:t> 각 활동의 리더와 멤버가 </a:t>
            </a:r>
            <a:r>
              <a:rPr lang="ko-KR" altLang="en-US" b="1" dirty="0" err="1">
                <a:solidFill>
                  <a:srgbClr val="FFFF00"/>
                </a:solidFill>
              </a:rPr>
              <a:t>팀웍</a:t>
            </a:r>
            <a:r>
              <a:rPr lang="ko-KR" altLang="en-US" dirty="0" err="1"/>
              <a:t>을</a:t>
            </a:r>
            <a:r>
              <a:rPr lang="ko-KR" altLang="en-US" dirty="0"/>
              <a:t> 이룰 수 있는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환경</a:t>
            </a:r>
            <a:r>
              <a:rPr lang="ko-KR" altLang="en-US" dirty="0"/>
              <a:t>을 제공하고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품질</a:t>
            </a:r>
            <a:r>
              <a:rPr lang="ko-KR" altLang="en-US" dirty="0"/>
              <a:t>을 관리할 수 있어야 한다고 생각 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 err="1"/>
              <a:t>에트리의</a:t>
            </a:r>
            <a:r>
              <a:rPr lang="ko-KR" altLang="en-US" dirty="0"/>
              <a:t> 기술이전 프로그램 및 사업화 활동과 관련하여 기업이 질문하는 </a:t>
            </a:r>
            <a:r>
              <a:rPr lang="ko-KR" altLang="en-US" b="1" dirty="0">
                <a:solidFill>
                  <a:srgbClr val="FFFF00"/>
                </a:solidFill>
              </a:rPr>
              <a:t>부정적인 이슈</a:t>
            </a:r>
            <a:r>
              <a:rPr lang="ko-KR" altLang="en-US" dirty="0"/>
              <a:t>들은 연구과제 목표와 평가지표 설정의 과정과 각 활동의 수행을 통하여 대부분 해소되고</a:t>
            </a:r>
            <a:r>
              <a:rPr lang="en-US" altLang="ko-KR" dirty="0"/>
              <a:t>, </a:t>
            </a:r>
            <a:r>
              <a:rPr lang="ko-KR" altLang="en-US" dirty="0"/>
              <a:t>궁극적으로는 </a:t>
            </a:r>
            <a:r>
              <a:rPr lang="ko-KR" altLang="en-US" dirty="0" err="1"/>
              <a:t>에트리의</a:t>
            </a:r>
            <a:r>
              <a:rPr lang="ko-KR" altLang="en-US" dirty="0"/>
              <a:t> 바람직한 </a:t>
            </a:r>
            <a:r>
              <a:rPr lang="ko-KR" altLang="en-US" b="1" dirty="0">
                <a:solidFill>
                  <a:srgbClr val="FFFF00"/>
                </a:solidFill>
              </a:rPr>
              <a:t>포지셔닝</a:t>
            </a:r>
            <a:r>
              <a:rPr lang="ko-KR" altLang="en-US" dirty="0"/>
              <a:t>도 가능하지 않을까요</a:t>
            </a:r>
            <a:r>
              <a:rPr lang="en-US" altLang="ko-KR" dirty="0" smtClean="0"/>
              <a:t>?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94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&lt;3&gt; </a:t>
            </a:r>
            <a:r>
              <a:rPr lang="ko-KR" altLang="en-US" dirty="0" err="1"/>
              <a:t>에트리</a:t>
            </a:r>
            <a:r>
              <a:rPr lang="ko-KR" altLang="en-US" dirty="0"/>
              <a:t> </a:t>
            </a:r>
            <a:r>
              <a:rPr lang="en-US" altLang="ko-KR" dirty="0"/>
              <a:t>R&amp;D </a:t>
            </a:r>
            <a:r>
              <a:rPr lang="ko-KR" altLang="en-US" dirty="0"/>
              <a:t>프로세스를 제안합니다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기업과 </a:t>
            </a:r>
            <a:r>
              <a:rPr lang="ko-KR" altLang="en-US" dirty="0" err="1"/>
              <a:t>에트리가</a:t>
            </a:r>
            <a:r>
              <a:rPr lang="ko-KR" altLang="en-US" dirty="0"/>
              <a:t> 함께 참여하고 </a:t>
            </a:r>
            <a:r>
              <a:rPr lang="ko-KR" altLang="en-US" dirty="0" err="1"/>
              <a:t>역할하는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FFFF00"/>
                </a:solidFill>
              </a:rPr>
              <a:t>에트리</a:t>
            </a:r>
            <a:r>
              <a:rPr lang="ko-KR" altLang="en-US" b="1" dirty="0">
                <a:solidFill>
                  <a:srgbClr val="FFFF00"/>
                </a:solidFill>
              </a:rPr>
              <a:t>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프로세스 </a:t>
            </a:r>
            <a:r>
              <a:rPr lang="ko-KR" altLang="en-US" dirty="0"/>
              <a:t>구축</a:t>
            </a:r>
          </a:p>
          <a:p>
            <a:r>
              <a:rPr lang="ko-KR" altLang="en-US" dirty="0" smtClean="0"/>
              <a:t>기업과 </a:t>
            </a:r>
            <a:r>
              <a:rPr lang="ko-KR" altLang="en-US" dirty="0" err="1"/>
              <a:t>에트리가</a:t>
            </a:r>
            <a:r>
              <a:rPr lang="ko-KR" altLang="en-US" dirty="0"/>
              <a:t> 함께 목표 설정과 평가지표를 도출한 </a:t>
            </a:r>
            <a:r>
              <a:rPr lang="ko-KR" altLang="en-US" b="1" dirty="0">
                <a:solidFill>
                  <a:srgbClr val="FFFF00"/>
                </a:solidFill>
              </a:rPr>
              <a:t>연구과제 </a:t>
            </a:r>
            <a:r>
              <a:rPr lang="ko-KR" altLang="en-US" dirty="0"/>
              <a:t>제안</a:t>
            </a:r>
          </a:p>
          <a:p>
            <a:r>
              <a:rPr lang="ko-KR" altLang="en-US" dirty="0" smtClean="0"/>
              <a:t>기업과 </a:t>
            </a:r>
            <a:r>
              <a:rPr lang="ko-KR" altLang="en-US" dirty="0" err="1"/>
              <a:t>에트리가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FFFF00"/>
                </a:solidFill>
              </a:rPr>
              <a:t>함께</a:t>
            </a:r>
            <a:r>
              <a:rPr lang="ko-KR" altLang="en-US" dirty="0"/>
              <a:t> 또는 </a:t>
            </a:r>
            <a:r>
              <a:rPr lang="ko-KR" altLang="en-US" b="1" dirty="0">
                <a:solidFill>
                  <a:srgbClr val="FFFF00"/>
                </a:solidFill>
              </a:rPr>
              <a:t>나누어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dirty="0"/>
              <a:t>및 </a:t>
            </a:r>
            <a:r>
              <a:rPr lang="ko-KR" altLang="en-US" b="1" dirty="0">
                <a:solidFill>
                  <a:srgbClr val="FFFF00"/>
                </a:solidFill>
              </a:rPr>
              <a:t>사업화 활동 </a:t>
            </a:r>
            <a:r>
              <a:rPr lang="ko-KR" altLang="en-US" dirty="0"/>
              <a:t>수행</a:t>
            </a:r>
          </a:p>
          <a:p>
            <a:r>
              <a:rPr lang="ko-KR" altLang="en-US" dirty="0" err="1" smtClean="0"/>
              <a:t>에트리는</a:t>
            </a:r>
            <a:r>
              <a:rPr lang="ko-KR" altLang="en-US" dirty="0" smtClean="0"/>
              <a:t>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환경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rgbClr val="FFFF00"/>
                </a:solidFill>
              </a:rPr>
              <a:t>R&amp;D </a:t>
            </a:r>
            <a:r>
              <a:rPr lang="ko-KR" altLang="en-US" b="1" dirty="0">
                <a:solidFill>
                  <a:srgbClr val="FFFF00"/>
                </a:solidFill>
              </a:rPr>
              <a:t>품질</a:t>
            </a:r>
            <a:r>
              <a:rPr lang="ko-KR" altLang="en-US" dirty="0"/>
              <a:t>을 제공 및 관리</a:t>
            </a:r>
          </a:p>
          <a:p>
            <a:r>
              <a:rPr lang="ko-KR" altLang="en-US" dirty="0" smtClean="0"/>
              <a:t>정부와 </a:t>
            </a:r>
            <a:r>
              <a:rPr lang="ko-KR" altLang="en-US" dirty="0"/>
              <a:t>진흥원은 </a:t>
            </a:r>
            <a:r>
              <a:rPr lang="ko-KR" altLang="en-US" dirty="0" err="1"/>
              <a:t>에트리</a:t>
            </a:r>
            <a:r>
              <a:rPr lang="ko-KR" altLang="en-US" dirty="0"/>
              <a:t> </a:t>
            </a:r>
            <a:r>
              <a:rPr lang="en-US" altLang="ko-KR" dirty="0"/>
              <a:t>R&amp;D </a:t>
            </a:r>
            <a:r>
              <a:rPr lang="ko-KR" altLang="en-US" dirty="0"/>
              <a:t>프로세스에 따른 연구과제 우선 지원</a:t>
            </a:r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b="1" dirty="0"/>
              <a:t>Transformation:</a:t>
            </a:r>
          </a:p>
          <a:p>
            <a:pPr marL="269875" indent="0">
              <a:buNone/>
            </a:pPr>
            <a:r>
              <a:rPr lang="ko-KR" altLang="en-US" dirty="0" smtClean="0">
                <a:sym typeface="Wingdings 3" panose="05040102010807070707" pitchFamily="18" charset="2"/>
              </a:rPr>
              <a:t> </a:t>
            </a:r>
            <a:r>
              <a:rPr lang="ko-KR" altLang="en-US" dirty="0" smtClean="0"/>
              <a:t>기업은 </a:t>
            </a:r>
            <a:r>
              <a:rPr lang="ko-KR" altLang="en-US" dirty="0"/>
              <a:t>무늬만 바뀌는 카멜레온에서 </a:t>
            </a:r>
            <a:r>
              <a:rPr lang="ko-KR" altLang="en-US" b="1" dirty="0" err="1">
                <a:solidFill>
                  <a:srgbClr val="FFFF00"/>
                </a:solidFill>
              </a:rPr>
              <a:t>헐크</a:t>
            </a:r>
            <a:r>
              <a:rPr lang="ko-KR" altLang="en-US" dirty="0" err="1"/>
              <a:t>로</a:t>
            </a:r>
            <a:r>
              <a:rPr lang="ko-KR" altLang="en-US" dirty="0"/>
              <a:t> </a:t>
            </a:r>
            <a:r>
              <a:rPr lang="en-US" altLang="ko-KR" dirty="0"/>
              <a:t>^^</a:t>
            </a:r>
          </a:p>
          <a:p>
            <a:pPr marL="269875" indent="0">
              <a:buNone/>
            </a:pPr>
            <a:r>
              <a:rPr lang="ko-KR" altLang="en-US" dirty="0">
                <a:sym typeface="Wingdings 3" panose="05040102010807070707" pitchFamily="18" charset="2"/>
              </a:rPr>
              <a:t> </a:t>
            </a:r>
            <a:r>
              <a:rPr lang="ko-KR" altLang="en-US" dirty="0" err="1" smtClean="0"/>
              <a:t>에트리는</a:t>
            </a:r>
            <a:r>
              <a:rPr lang="ko-KR" altLang="en-US" dirty="0" smtClean="0"/>
              <a:t> </a:t>
            </a:r>
            <a:r>
              <a:rPr lang="ko-KR" altLang="en-US" dirty="0"/>
              <a:t>투명인간에서 존재 의미가 분명한 </a:t>
            </a:r>
            <a:r>
              <a:rPr lang="ko-KR" altLang="en-US" b="1" dirty="0">
                <a:solidFill>
                  <a:srgbClr val="FFFF00"/>
                </a:solidFill>
              </a:rPr>
              <a:t>슈퍼맨</a:t>
            </a:r>
            <a:r>
              <a:rPr lang="ko-KR" altLang="en-US" dirty="0"/>
              <a:t>으로 </a:t>
            </a:r>
            <a:r>
              <a:rPr lang="en-US" altLang="ko-KR" dirty="0"/>
              <a:t>^^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38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* 본 발표에서는 전체 </a:t>
            </a:r>
            <a:r>
              <a:rPr lang="ko-KR" altLang="en-US" dirty="0" err="1"/>
              <a:t>에트리</a:t>
            </a:r>
            <a:r>
              <a:rPr lang="ko-KR" altLang="en-US" dirty="0"/>
              <a:t> 프로세스 중에 기술이전 활동이 포함된 연구 분야의 </a:t>
            </a:r>
            <a:r>
              <a:rPr lang="en-US" altLang="ko-KR" dirty="0"/>
              <a:t>R&amp;D </a:t>
            </a:r>
            <a:r>
              <a:rPr lang="ko-KR" altLang="en-US" dirty="0"/>
              <a:t>프로세스에 대하여 말씀드렸습니다</a:t>
            </a:r>
            <a:r>
              <a:rPr lang="en-US" altLang="ko-KR" dirty="0"/>
              <a:t>. (</a:t>
            </a:r>
            <a:r>
              <a:rPr lang="ko-KR" altLang="en-US" dirty="0"/>
              <a:t>선구적이고 무모한 도전이 필요한 첨단 </a:t>
            </a:r>
            <a:r>
              <a:rPr lang="ko-KR" altLang="en-US" dirty="0" err="1"/>
              <a:t>연구분야와</a:t>
            </a:r>
            <a:r>
              <a:rPr lang="ko-KR" altLang="en-US" dirty="0"/>
              <a:t> 국제사회에 기여할 수 있는 공익 분야의 </a:t>
            </a:r>
            <a:r>
              <a:rPr lang="en-US" altLang="ko-KR" dirty="0"/>
              <a:t>R&amp;D </a:t>
            </a:r>
            <a:r>
              <a:rPr lang="ko-KR" altLang="en-US" dirty="0"/>
              <a:t>프로세스는 포함하지 않았습니다</a:t>
            </a:r>
            <a:r>
              <a:rPr lang="en-US" altLang="ko-KR" dirty="0"/>
              <a:t>.)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sz="4000" dirty="0" smtClean="0"/>
              <a:t>경청해 주셔서 감사합니다</a:t>
            </a:r>
            <a:r>
              <a:rPr lang="en-US" altLang="ko-KR" sz="4000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FA5A-018F-4DC1-8699-F4588F124A5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61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740</Words>
  <Application>Microsoft Office PowerPoint</Application>
  <PresentationFormat>와이드스크린</PresentationFormat>
  <Paragraphs>59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Wingdings 3</vt:lpstr>
      <vt:lpstr>Office Theme</vt:lpstr>
      <vt:lpstr>기술이전을 통해 본 ETRI R&amp;D 프로세스</vt:lpstr>
      <vt:lpstr>&lt;0&gt; 다음의 순서로 말씀드립니다.</vt:lpstr>
      <vt:lpstr>&lt;1&gt; 먼저 기술이전에 대한 저의 경험을 이야기 합니다</vt:lpstr>
      <vt:lpstr>&lt;2&gt; 기업과 에트리는 다르지만 비슷합니다</vt:lpstr>
      <vt:lpstr>&lt;2-1&gt; 기업에선 투자 - 에트리에선 출연</vt:lpstr>
      <vt:lpstr>&lt;2-2&gt; 기업에선 사업의 성공 - 에트리에선 목표의 달성</vt:lpstr>
      <vt:lpstr>&lt;2-3&gt; 기업의 혁신 - 에트리의 혁신</vt:lpstr>
      <vt:lpstr>&lt;2-4&gt; 기업은 인더스트리 엑스퍼트 - 에트리는 테크놀로지 리더</vt:lpstr>
      <vt:lpstr>&lt;3&gt; 에트리 R&amp;D 프로세스를 제안합니다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기술이전을 통해 본 ETRI R&amp;D 프로세스</dc:title>
  <dc:creator>tkang.kscodi@outlook.kr</dc:creator>
  <cp:lastModifiedBy>tkang.kscodi@outlook.kr</cp:lastModifiedBy>
  <cp:revision>9</cp:revision>
  <dcterms:created xsi:type="dcterms:W3CDTF">2016-08-10T09:03:25Z</dcterms:created>
  <dcterms:modified xsi:type="dcterms:W3CDTF">2016-08-11T00:57:58Z</dcterms:modified>
</cp:coreProperties>
</file>